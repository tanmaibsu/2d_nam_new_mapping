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Hybrid Beam-Search Syndrome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D6"/>
                </a:solidFill>
                <a:latin typeface="Calibri"/>
              </a:defRPr>
            </a:pPr>
            <a:r>
              <a:t>for DNA Origami-based Nucleic Acid Memory (dNAM)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New Decoding Algorithm  |  Comparison with Previous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Tanmai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 System Context — 8x10 Origami Matrix &amp; Error Model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 Previous Decoder — A*-Style Greedy Heuristic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 New Decoder — Hybrid Beam-Search Syndrome Decoder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 Tier 1 Deep Dive — Syndrome-Driven Beam Search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 Strict Acceptance — Eliminating Silent Failures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 Algorithm Comparison (Side-by-Side)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 Complexity Analysis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8.  End-to-End Pipeline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9.  Exhaustive Testing Framework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10. Summary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8x10 DNA Origami Matrix Layout (24-Parity Config)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308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59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79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5560" y="12801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83080"/>
            <a:ext cx="1014983" cy="466344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830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783080"/>
            <a:ext cx="1014983" cy="466344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286000"/>
            <a:ext cx="1014983" cy="466344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28600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79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8600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95560" y="22860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788920"/>
            <a:ext cx="1014983" cy="466344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278892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278892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278892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9" y="2788920"/>
            <a:ext cx="1014983" cy="466344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2788920"/>
            <a:ext cx="1014983" cy="466344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79" y="278892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278892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78892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95560" y="278892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291840"/>
            <a:ext cx="1014983" cy="466344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329184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39" y="329184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6200" y="329184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59" y="3291840"/>
            <a:ext cx="1014983" cy="466344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291840"/>
            <a:ext cx="1014983" cy="466344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79" y="329184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329184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329184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329184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379476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39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59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79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79476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379476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4297680"/>
            <a:ext cx="1014983" cy="466344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83080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4639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86200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79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2440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4297680"/>
            <a:ext cx="1014983" cy="466344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60" y="4297680"/>
            <a:ext cx="1014983" cy="466344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8308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39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8620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59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40879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95560" y="4800600"/>
            <a:ext cx="1014983" cy="466344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5577840"/>
            <a:ext cx="2011680" cy="36576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~29 bits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926080" y="5577840"/>
            <a:ext cx="201168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PARITY 24 bits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20640" y="5577840"/>
            <a:ext cx="2011680" cy="36576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CHECKSUM 4 bits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199" y="5577840"/>
            <a:ext cx="2011680" cy="3657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ORIENTATION 4 bits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09760" y="5577840"/>
            <a:ext cx="2011680" cy="36576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INDEX 2-5 bits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Error Model:  False Negatives (1→0) are dominant  |  False Positives (0→1) are rare  |  Asymmetric 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Previous Decoder: A*-Style Greedy Heuristic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3200400" cy="5486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Received Origami (80-bit)</a:t>
            </a:r>
          </a:p>
        </p:txBody>
      </p:sp>
      <p:sp>
        <p:nvSpPr>
          <p:cNvPr id="4" name="Down Arrow 3"/>
          <p:cNvSpPr/>
          <p:nvPr/>
        </p:nvSpPr>
        <p:spPr>
          <a:xfrm>
            <a:off x="2743200" y="1783080"/>
            <a:ext cx="365760" cy="32004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3200400" cy="5486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Fix Orientation (4 rotations)</a:t>
            </a:r>
          </a:p>
        </p:txBody>
      </p:sp>
      <p:sp>
        <p:nvSpPr>
          <p:cNvPr id="6" name="Down Arrow 5"/>
          <p:cNvSpPr/>
          <p:nvPr/>
        </p:nvSpPr>
        <p:spPr>
          <a:xfrm>
            <a:off x="2743200" y="2788920"/>
            <a:ext cx="365760" cy="32004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3200400" cy="5486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Compute Matrix Weight (scoring)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43200" y="3794760"/>
            <a:ext cx="365760" cy="32004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1828800" cy="5486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weight == 0?</a:t>
            </a:r>
            <a:br/>
            <a:r>
              <a:t>ACCEPT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206240"/>
            <a:ext cx="1828800" cy="5486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weight &gt; 0</a:t>
            </a:r>
            <a:br/>
            <a:r>
              <a:t>PQ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0972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Weight Scoring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737360"/>
            <a:ext cx="5943600" cy="27432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A0E0A0"/>
                </a:solidFill>
                <a:latin typeface="Courier New"/>
              </a:defRPr>
            </a:pPr>
            <a:r>
              <a:t>1. Flip specified bits in matrix copy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2. Check all 24 parity equations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→ Collect data positions from failing parities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3. Check all 4 checksum equations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→ Add suspect positions from failing checksums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4. Score each suspect position: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weight = parity_violations + checksum_bonus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5. Group by weight, filter by threshold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6. Return (matrix, norm_weight, probable_errors)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Key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1206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9999"/>
                </a:solidFill>
                <a:latin typeface="Calibri"/>
              </a:defRPr>
            </a:pPr>
            <a:r>
              <a:t>✖  weight==0 acceptance is NOT strict (silent corruption possible)</a:t>
            </a:r>
          </a:p>
          <a:p>
            <a:pPr>
              <a:spcAft>
                <a:spcPts val="800"/>
              </a:spcAft>
              <a:defRPr sz="1400">
                <a:solidFill>
                  <a:srgbClr val="FF9999"/>
                </a:solidFill>
                <a:latin typeface="Calibri"/>
              </a:defRPr>
            </a:pPr>
            <a:r>
              <a:t>✖  Priority queue grows exponentially: O(k^d) for d errors</a:t>
            </a:r>
          </a:p>
          <a:p>
            <a:pPr>
              <a:spcAft>
                <a:spcPts val="800"/>
              </a:spcAft>
              <a:defRPr sz="1400">
                <a:solidFill>
                  <a:srgbClr val="FF9999"/>
                </a:solidFill>
                <a:latin typeface="Calibri"/>
              </a:defRPr>
            </a:pPr>
            <a:r>
              <a:t>✖  Impractical beyond 5-6 errors</a:t>
            </a:r>
          </a:p>
          <a:p>
            <a:pPr>
              <a:spcAft>
                <a:spcPts val="800"/>
              </a:spcAft>
              <a:defRPr sz="1400">
                <a:solidFill>
                  <a:srgbClr val="FF9999"/>
                </a:solidFill>
                <a:latin typeface="Calibri"/>
              </a:defRPr>
            </a:pPr>
            <a:r>
              <a:t>✖  Single strategy with no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New Decoder: Hybrid Beam-Search Syndrome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Three-Tier Architecture with Strict Acceptance at Every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63040"/>
            <a:ext cx="3657600" cy="502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Received Origami (80-bit stream)</a:t>
            </a:r>
          </a:p>
        </p:txBody>
      </p:sp>
      <p:sp>
        <p:nvSpPr>
          <p:cNvPr id="5" name="Down Arrow 4"/>
          <p:cNvSpPr/>
          <p:nvPr/>
        </p:nvSpPr>
        <p:spPr>
          <a:xfrm>
            <a:off x="3383280" y="2011680"/>
            <a:ext cx="365760" cy="27432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4572000" cy="7315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0: STRICT ACCEPT</a:t>
            </a:r>
            <a:br/>
            <a:r>
              <a:t>Orientation + ALL Parities + ALL Checksums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83280" y="3200400"/>
            <a:ext cx="365760" cy="274320"/>
          </a:xfrm>
          <a:prstGeom prst="downArrow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566160"/>
            <a:ext cx="4572000" cy="8229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1: BEAM-SEARCH SYNDROME DECODER</a:t>
            </a:r>
            <a:br/>
            <a:r>
              <a:t>Build check graph → Syndrome scores → Beam search (w=6)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383280" y="4480560"/>
            <a:ext cx="365760" cy="274320"/>
          </a:xfrm>
          <a:prstGeom prst="downArrow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4572000" cy="7315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2: LEGACY GREEDY FALLBACK</a:t>
            </a:r>
            <a:br/>
            <a:r>
              <a:t>Weight-based heuristic + STRICT acceptance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560320"/>
            <a:ext cx="164592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ACCEPT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49039"/>
            <a:ext cx="164592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ACCEPT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937760"/>
            <a:ext cx="164592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ACCEPT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760720"/>
            <a:ext cx="2286000" cy="4572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✖ FAIL (return 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Strict validation at EVERY tier</a:t>
            </a:r>
          </a:p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Syndrome-directed bit selection</a:t>
            </a:r>
          </a:p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Bounded memory (beam width=6)</a:t>
            </a:r>
          </a:p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Up to ~8 errors correctable</a:t>
            </a:r>
          </a:p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Fallback ensures max recovery</a:t>
            </a:r>
          </a:p>
          <a:p>
            <a:pPr>
              <a:spcAft>
                <a:spcPts val="800"/>
              </a:spcAft>
              <a:defRPr sz="1500">
                <a:solidFill>
                  <a:srgbClr val="2ECC71"/>
                </a:solidFill>
                <a:latin typeface="Calibri"/>
              </a:defRPr>
            </a:pPr>
            <a:r>
              <a:t>✓ No silent data corruption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Tier 1 Deep Dive: Syndrome-Driven Beam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Step 1: Build Check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20116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A0E0A0"/>
                </a:solidFill>
                <a:latin typeface="Courier New"/>
              </a:defRPr>
            </a:pPr>
            <a:r>
              <a:t># Combine parity + checksum into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# unified bipartite graph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all_checks = parity_relations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         + checksum_relations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check_to_vars[check] = [variables]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var_to_checks[var]   = [checks]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Step 2: Compute Syndrome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4572000" cy="15544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A0E0A0"/>
                </a:solidFill>
                <a:latin typeface="Courier New"/>
              </a:defRPr>
            </a:pPr>
            <a:r>
              <a:t>failed_checks = set()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for check in all_checks: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xor = XOR(all vars in check)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if xor != 0: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    failed_checks.add(check)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Step 3: Beam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Iteration 0: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mat₀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920240"/>
            <a:ext cx="91440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91440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91440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920240"/>
            <a:ext cx="91440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44200" y="1920240"/>
            <a:ext cx="91440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Score each variable by # failed checks it participates in.</a:t>
            </a:r>
            <a:br/>
            <a:r>
              <a:t>Try flipping top-scored variables (beam_width × 2 candidates).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Re-score, keep top 6: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3383280"/>
            <a:ext cx="91440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40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Repeat for up to 40 iterations.</a:t>
            </a:r>
            <a:br/>
            <a:r>
              <a:t>At each step: if ANY candidate passes STRICT check → ACCEPT.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663440"/>
            <a:ext cx="5486400" cy="164592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Syndrome-Directed Selection</a:t>
            </a:r>
            <a:br/>
            <a:br/>
            <a:r>
              <a:t>scores = Counter()</a:t>
            </a:r>
            <a:br/>
            <a:r>
              <a:t>for each failed check c:</a:t>
            </a:r>
            <a:br/>
            <a:r>
              <a:t>    for each variable v in c:</a:t>
            </a:r>
            <a:br/>
            <a:r>
              <a:t>        scores[v] += 1</a:t>
            </a:r>
            <a:br/>
            <a:br/>
            <a:r>
              <a:t>Flip the variables with the HIGHEST scores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Strict Acceptance: Eliminating Silent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PREVIOUS: Weight-Based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25603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urier New"/>
              </a:defRPr>
            </a:pPr>
            <a:r>
              <a:t>if weight == 0: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  return matrix  # ACCEPT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Problems: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- weight==0 does NOT guarantee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  all checks actually pass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- Normalization artifacts can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  make weight zero with errors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# - SILENT DATA CORRUPTION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480560"/>
            <a:ext cx="3657600" cy="5486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✖  Can return WRONG matrix silently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NEW: Strict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310896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urier New"/>
              </a:defRPr>
            </a:pPr>
            <a:r>
              <a:t>def _strict_matrix_ok(matrix):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# 1. Fix orientation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ori, oriented = fix_orientation()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if ori == -1: return False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# 2. Check ALL parity equations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_, bad = find_error_location()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if bad: return False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# 3. Check ALL checksums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if not check_checksum(): return False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return True  # ALL pass!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5029200"/>
            <a:ext cx="3657600" cy="5486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 Used at EVERY acceptance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96D6"/>
                </a:solidFill>
                <a:latin typeface="Calibri"/>
              </a:defRPr>
            </a:pPr>
            <a:r>
              <a:t>Applied at: Tier 0 (zero-error) | Tier 1 (each beam candidate) | Tier 2 (legacy fallback) | return_matrix() final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Algorithm Comparison: Old vs. New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640080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188720"/>
            <a:ext cx="4114800" cy="640080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Previous (A* Greedy)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188720"/>
            <a:ext cx="4114800" cy="640080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New (Hybrid Beam-Search)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Search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Priority queue (min-heap)</a:t>
            </a:r>
          </a:p>
          <a:p>
            <a:pPr>
              <a:defRPr sz="1200" b="0">
                <a:solidFill>
                  <a:srgbClr val="FFBBBB"/>
                </a:solidFill>
                <a:latin typeface="Calibri"/>
              </a:defRPr>
            </a:pPr>
            <a:r>
              <a:t>over weight heuristic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Beam search (width=6)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over syndrome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Error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468880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Indirect: via parity</a:t>
            </a:r>
          </a:p>
          <a:p>
            <a:pPr>
              <a:defRPr sz="1200" b="0">
                <a:solidFill>
                  <a:srgbClr val="FFBBBB"/>
                </a:solidFill>
                <a:latin typeface="Calibri"/>
              </a:defRPr>
            </a:pPr>
            <a:r>
              <a:t>violation counts (weight)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Direct: syndrome computation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(which checks failed?)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59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Candidate 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108959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All probable errors</a:t>
            </a:r>
          </a:p>
          <a:p>
            <a:pPr>
              <a:defRPr sz="1200" b="0">
                <a:solidFill>
                  <a:srgbClr val="FFBBBB"/>
                </a:solidFill>
                <a:latin typeface="Calibri"/>
              </a:defRPr>
            </a:pPr>
            <a:r>
              <a:t>from weight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108959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Top variables by syndrome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participation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Memory 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749039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Unbounded visited set +</a:t>
            </a:r>
          </a:p>
          <a:p>
            <a:pPr>
              <a:defRPr sz="1200" b="0">
                <a:solidFill>
                  <a:srgbClr val="FFBBBB"/>
                </a:solidFill>
                <a:latin typeface="Calibri"/>
              </a:defRPr>
            </a:pPr>
            <a:r>
              <a:t>growing priority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749039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Fixed: beam_width states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per iteration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Acceptance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389120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weight == 0 (WEAK)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389120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Strict: ALL parity +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ALL checksum must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199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5029199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None (single strategy)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5029199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Tier 2: legacy heuristic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with strict acceptance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69279"/>
            <a:ext cx="2286000" cy="640080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Max Errors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5669279"/>
            <a:ext cx="4114800" cy="640080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BBBB"/>
                </a:solidFill>
                <a:latin typeface="Calibri"/>
              </a:defRPr>
            </a:pPr>
            <a:r>
              <a:t>~5-6 in practice</a:t>
            </a:r>
          </a:p>
          <a:p>
            <a:pPr>
              <a:defRPr sz="1200" b="0">
                <a:solidFill>
                  <a:srgbClr val="FFBBBB"/>
                </a:solidFill>
                <a:latin typeface="Calibri"/>
              </a:defRPr>
            </a:pPr>
            <a:r>
              <a:t>(PQ explosion)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5669279"/>
            <a:ext cx="4114800" cy="640080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FFBB"/>
                </a:solidFill>
                <a:latin typeface="Calibri"/>
              </a:defRPr>
            </a:pPr>
            <a:r>
              <a:t>~8 reliably</a:t>
            </a:r>
          </a:p>
          <a:p>
            <a:pPr>
              <a:defRPr sz="1200" b="0">
                <a:solidFill>
                  <a:srgbClr val="BBFFBB"/>
                </a:solidFill>
                <a:latin typeface="Calibri"/>
              </a:defRPr>
            </a:pPr>
            <a:r>
              <a:t>(beam keeps it tractable)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Previous: A* Decoder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5603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urier New"/>
              </a:defRPr>
            </a:pPr>
            <a:r>
              <a:t>Per iteration: O(k) children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each costs O(P) for weight computation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 = # parity checks, k = # probable errors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Worst case: O(k^d x P)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d = max_errors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Space: O(k^d) visited set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EXPONENTIAL growth in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New: Beam-Search Decoder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25603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urier New"/>
              </a:defRPr>
            </a:pPr>
            <a:r>
              <a:t>Per iteration: O(B x 2B) candidates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each costs O(C) for syndrome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B = beam_width (6), C = # checks (28)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Worst case: O(I x B^2 x C)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I = max_iterations (40)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Space: O(B x 80) = CONSTANT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LINEAR growth with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Operations by Error Count (Approximate)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029200"/>
            <a:ext cx="1828800" cy="292608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Errors (d)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029200"/>
            <a:ext cx="2743200" cy="292608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A* (approx ops)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5029200"/>
            <a:ext cx="2743200" cy="292608"/>
          </a:xfrm>
          <a:prstGeom prst="rect">
            <a:avLst/>
          </a:prstGeom>
          <a:solidFill>
            <a:srgbClr val="0096D6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Beam (approx ops)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49240"/>
            <a:ext cx="1828800" cy="292608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349240"/>
            <a:ext cx="2743200" cy="292608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5349240"/>
            <a:ext cx="2743200" cy="292608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5669280"/>
            <a:ext cx="1828800" cy="292608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669280"/>
            <a:ext cx="2743200" cy="292608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~900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5669280"/>
            <a:ext cx="2743200" cy="292608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~800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989320"/>
            <a:ext cx="1828800" cy="292608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5989320"/>
            <a:ext cx="2743200" cy="292608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~27,000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989320"/>
            <a:ext cx="2743200" cy="292608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~1,200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6309360"/>
            <a:ext cx="1828800" cy="292608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6309360"/>
            <a:ext cx="2743200" cy="292608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~24,000,000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6309360"/>
            <a:ext cx="2743200" cy="292608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~2,000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6629400"/>
            <a:ext cx="1828800" cy="292608"/>
          </a:xfrm>
          <a:prstGeom prst="rect">
            <a:avLst/>
          </a:prstGeom>
          <a:solidFill>
            <a:srgbClr val="2C3E5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6629400"/>
            <a:ext cx="2743200" cy="292608"/>
          </a:xfrm>
          <a:prstGeom prst="rect">
            <a:avLst/>
          </a:prstGeom>
          <a:solidFill>
            <a:srgbClr val="3A2020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~6.5 x 10¹¹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629400"/>
            <a:ext cx="2743200" cy="292608"/>
          </a:xfrm>
          <a:prstGeom prst="rect">
            <a:avLst/>
          </a:prstGeom>
          <a:solidFill>
            <a:srgbClr val="1A3A1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~3,200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End-to-End Decoding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731520"/>
            <a:ext cx="6400800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Origami Text Files</a:t>
            </a:r>
            <a:br/>
            <a:r>
              <a:t>(80-bit binary strings)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60720" y="138988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6400800" cy="64008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ProcessFile.decode()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230428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2468880"/>
            <a:ext cx="6400800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Layout Setup</a:t>
            </a:r>
            <a:br/>
            <a:r>
              <a:t>(data/index/parity/checksum positions)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312724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3291840"/>
            <a:ext cx="6400800" cy="6400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ThreadPoolExecutor</a:t>
            </a:r>
            <a:br/>
            <a:r>
              <a:t>(up to 32 parallel workers)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60720" y="395020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4114800"/>
            <a:ext cx="6400800" cy="64008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Per-Origami: Tier 0 → Tier 1 → Tier 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477316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4937760"/>
            <a:ext cx="6400800" cy="6400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Majority Voting</a:t>
            </a:r>
            <a:br/>
            <a:r>
              <a:t>(across redundant copies per index)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5596128"/>
            <a:ext cx="320040" cy="228600"/>
          </a:xfrm>
          <a:prstGeom prst="down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5760720"/>
            <a:ext cx="6400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Recovered Binary File + CSV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1089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Each worker runs the</a:t>
            </a:r>
            <a:br/>
            <a:r>
              <a:t>3-tier hybrid decoder</a:t>
            </a:r>
            <a:br/>
            <a:r>
              <a:t>independently on a</a:t>
            </a:r>
            <a:br/>
            <a:r>
              <a:t>single origami.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846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Multiple copies of the</a:t>
            </a:r>
            <a:br/>
            <a:r>
              <a:t>same origami are decoded</a:t>
            </a:r>
            <a:br/>
            <a:r>
              <a:t>and majority-voted.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Exhaustive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Test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For each origami, for k ∈ {1, 2, 3}: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Test ALL C(n,k) combinations of 1→0 bit flips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Run full decode pipeline on each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Compare decoded output to original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Log all failures + per-bit vulnerability votes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Test Scale (per origami, ~40 '1'-bits)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560320" cy="34747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931920"/>
            <a:ext cx="2286000" cy="34747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15968"/>
            <a:ext cx="25603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Single-bit (k=1)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315968"/>
            <a:ext cx="22860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C(40,1) =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0016"/>
            <a:ext cx="25603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Double-bit (k=2)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700016"/>
            <a:ext cx="22860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C(40,2) = 780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84064"/>
            <a:ext cx="25603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Triple-bit (k=3)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5084064"/>
            <a:ext cx="22860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C(40,3) = 9,880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68112"/>
            <a:ext cx="2560320" cy="347472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468112"/>
            <a:ext cx="2286000" cy="347472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~10,700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5029200" cy="1097280"/>
          </a:xfrm>
          <a:prstGeom prst="roundRect">
            <a:avLst/>
          </a:prstGeom>
          <a:solidFill>
            <a:srgbClr val="3A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BBBB"/>
                </a:solidFill>
                <a:latin typeface="Calibri"/>
              </a:defRPr>
            </a:pPr>
            <a:r>
              <a:t>failures.csv</a:t>
            </a:r>
            <a:br/>
            <a:r>
              <a:t>Every failing combination:</a:t>
            </a:r>
            <a:br/>
            <a:r>
              <a:t>  (origami_idx, k, flipped_indices, status)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5029200" cy="109728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BFFBB"/>
                </a:solidFill>
                <a:latin typeface="Calibri"/>
              </a:defRPr>
            </a:pPr>
            <a:r>
              <a:t>votes.csv</a:t>
            </a:r>
            <a:br/>
            <a:r>
              <a:t>Per-bit vulnerability score:</a:t>
            </a:r>
            <a:br/>
            <a:r>
              <a:t>  How often each bit participates in</a:t>
            </a:r>
            <a:br/>
            <a:r>
              <a:t>  uncorrectable pairs/triplets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Bit Vulnerability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Bits covered by fewer parity equations are harder</a:t>
            </a:r>
            <a:br/>
            <a:r>
              <a:t>to correct when paired with other errors, yielding</a:t>
            </a:r>
            <a:br/>
            <a:r>
              <a:t>higher vulnerability scores.</a:t>
            </a:r>
            <a:br/>
            <a:br/>
            <a:r>
              <a:t>This analysis identifies structural weaknesses in</a:t>
            </a:r>
            <a:br/>
            <a:r>
              <a:t>the parity mapping design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463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Eliminated silent failures via strict acceptance at every 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Extended reliable error correction from ~5-6 to ~8 bit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474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Beam search O(I·B²·C) vs A* O(k^d·P) — bounded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ROBUSTNESS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Three-tier fallback ensures maximum recovery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9496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TESTABILITY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486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Exhaustive combinatorial testing with per-bit vulnerability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The hybrid approach combines the systematic rigor of syndrome decoding</a:t>
            </a:r>
            <a:br/>
            <a:r>
              <a:t>with the domain-specific heuristics of the legacy decoder.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The Doctor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Old Decoder = General Practitioner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91840"/>
          </a:xfrm>
          <a:prstGeom prst="roundRect">
            <a:avLst/>
          </a:prstGeom>
          <a:solidFill>
            <a:srgbClr val="3A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CCCC"/>
                </a:solidFill>
                <a:latin typeface="Calibri"/>
              </a:defRPr>
            </a:pPr>
            <a:r>
              <a:t>"Something feels off" (weight &gt; 0)</a:t>
            </a:r>
            <a:br/>
            <a:br/>
            <a:r>
              <a:t>Tries one medicine at a time.</a:t>
            </a:r>
            <a:br/>
            <a:r>
              <a:t>Picks the medicine that makes the</a:t>
            </a:r>
            <a:br/>
            <a:r>
              <a:t>patient "feel best" (lowest weight).</a:t>
            </a:r>
            <a:br/>
            <a:br/>
            <a:r>
              <a:t>If patient says "I feel fine" (weight=0),</a:t>
            </a:r>
            <a:br/>
            <a:r>
              <a:t>doctor declares them cured.</a:t>
            </a:r>
            <a:br/>
            <a:br/>
            <a:r>
              <a:t>Problem: Patient might THINK they are</a:t>
            </a:r>
            <a:br/>
            <a:r>
              <a:t>fine but still be sick (silent corruption).</a:t>
            </a:r>
            <a:br/>
            <a:r>
              <a:t>Also: tries every possible drug combo</a:t>
            </a:r>
            <a:br/>
            <a:r>
              <a:t>before giving up (exponential search).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New Decoder = Specialist with Lab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329184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FFCC"/>
                </a:solidFill>
                <a:latin typeface="Calibri"/>
              </a:defRPr>
            </a:pPr>
            <a:r>
              <a:t>Runs 28 specific diagnostic tests (syndromes).</a:t>
            </a:r>
            <a:br/>
            <a:br/>
            <a:r>
              <a:t>Each failing test points to specific organs.</a:t>
            </a:r>
            <a:br/>
            <a:r>
              <a:t>The organ flagged by the MOST tests</a:t>
            </a:r>
            <a:br/>
            <a:r>
              <a:t>is treated first (syndrome scoring).</a:t>
            </a:r>
            <a:br/>
            <a:br/>
            <a:r>
              <a:t>Keeps 6 treatment plans in parallel (beam).</a:t>
            </a:r>
            <a:br/>
            <a:r>
              <a:t>After each treatment, re-runs ALL 28 tests.</a:t>
            </a:r>
            <a:br/>
            <a:br/>
            <a:r>
              <a:t>Only declares "cured" when EVERY test</a:t>
            </a:r>
            <a:br/>
            <a:r>
              <a:t>comes back clean (strict acceptance).</a:t>
            </a:r>
            <a:br/>
            <a:br/>
            <a:r>
              <a:t>If specialist fails, calls in the old GP</a:t>
            </a:r>
            <a:br/>
            <a:r>
              <a:t>for a second opinion (Tier 2 fallback).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212080"/>
            <a:ext cx="91440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Key Insight: The old decoder asks "does the patient FEEL better?" (heuristic weight).</a:t>
            </a:r>
            <a:br/>
            <a:r>
              <a:t>The new decoder asks "do ALL the lab tests PASS?" (syndrome verification).</a:t>
            </a:r>
            <a:br/>
            <a:r>
              <a:t>Feeling better ≠ being cured. All tests passing = mathematical guarantee.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Why Syndromes Pinpoint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CF0F1"/>
                </a:solidFill>
                <a:latin typeface="Calibri"/>
              </a:defRPr>
            </a:pPr>
            <a:r>
              <a:t>Each parity check is like a "trip wire" — if ANY bit it covers is flipped, the check fails.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Worked Example: Single Error at Position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486400" cy="38404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urier New"/>
              </a:defRPr>
            </a:pPr>
            <a:r>
              <a:t>Suppose bit (2,4) is flipped (1 → 0).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Parity checks covering (2,4):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P1 = (1,2)  covers (2,4) among 12 bits → FAILS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P2 = (1,3)  covers (2,4) among 12 bits → FAILS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P3 = (3,8)  covers (2,4) among 12 bits → FAILS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P4 = (6,1)  covers (2,4) among 12 bits → FAILS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P5 = (6,4)  covers (2,4) among 12 bits → FAILS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Now count: which variable appears in ALL 5 failing checks?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→ (2,4) appears in 5/5  ← HIGHEST SCORE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  → Other bits appear in 1-2 at most</a:t>
            </a: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A0E0A0"/>
                </a:solidFill>
                <a:latin typeface="Courier New"/>
              </a:defRPr>
            </a:pPr>
            <a:r>
              <a:t>The syndrome literally POINTS to the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Overlapping Parity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86000"/>
            <a:ext cx="2286000" cy="1371600"/>
          </a:xfrm>
          <a:prstGeom prst="roundRect">
            <a:avLst/>
          </a:prstGeom>
          <a:solidFill>
            <a:srgbClr val="006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P1 covers</a:t>
            </a:r>
            <a:br/>
            <a:r>
              <a:t>12 bits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2286000" cy="1371600"/>
          </a:xfrm>
          <a:prstGeom prst="roundRect">
            <a:avLst/>
          </a:prstGeom>
          <a:solidFill>
            <a:srgbClr val="00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P2 covers</a:t>
            </a:r>
            <a:br/>
            <a:r>
              <a:t>12 bits 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286000"/>
            <a:ext cx="2286000" cy="1371600"/>
          </a:xfrm>
          <a:prstGeom prst="roundRect">
            <a:avLst/>
          </a:prstGeom>
          <a:solidFill>
            <a:srgbClr val="804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P3 covers</a:t>
            </a:r>
            <a:br/>
            <a:r>
              <a:t>12 bits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931920"/>
            <a:ext cx="2286000" cy="1371600"/>
          </a:xfrm>
          <a:prstGeom prst="roundRect">
            <a:avLst/>
          </a:prstGeom>
          <a:solidFill>
            <a:srgbClr val="9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P4 covers</a:t>
            </a:r>
            <a:br/>
            <a:r>
              <a:t>12 bits each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31920"/>
            <a:ext cx="2286000" cy="1371600"/>
          </a:xfrm>
          <a:prstGeom prst="roundRect">
            <a:avLst/>
          </a:prstGeom>
          <a:solidFill>
            <a:srgbClr val="6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P5 covers</a:t>
            </a:r>
            <a:br/>
            <a:r>
              <a:t>12 bits 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1371600" cy="7315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Bit (2,4)</a:t>
            </a:r>
            <a:br/>
            <a:r>
              <a:t>5/5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029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The INTERSECTION of all failing checks</a:t>
            </a:r>
            <a:br/>
            <a:r>
              <a:t>narrows down the error location.</a:t>
            </a:r>
            <a:br/>
            <a:br/>
            <a:r>
              <a:t>More parity checks per bit = better</a:t>
            </a:r>
            <a:br/>
            <a:r>
              <a:t>triangulation = easier to correct.</a:t>
            </a:r>
            <a:br/>
            <a:br/>
            <a:r>
              <a:t>This is why 24-parity (12 bits each)</a:t>
            </a:r>
            <a:br/>
            <a:r>
              <a:t>outperforms 16-parity for correction.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Beam Search vs. Priority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F0F1"/>
                </a:solidFill>
                <a:latin typeface="Calibri"/>
              </a:defRPr>
            </a:pPr>
            <a:r>
              <a:t>Think of it as exploring a maze to find the right combination of bit flips.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A* Priority Queue: Explore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03120"/>
            <a:ext cx="146304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280160" cy="320040"/>
          </a:xfrm>
          <a:prstGeom prst="roundRect">
            <a:avLst/>
          </a:prstGeom>
          <a:solidFill>
            <a:srgbClr val="5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flip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743200"/>
            <a:ext cx="1280160" cy="320040"/>
          </a:xfrm>
          <a:prstGeom prst="roundRect">
            <a:avLst/>
          </a:prstGeom>
          <a:solidFill>
            <a:srgbClr val="5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flip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1280160" cy="320040"/>
          </a:xfrm>
          <a:prstGeom prst="roundRect">
            <a:avLst/>
          </a:prstGeom>
          <a:solidFill>
            <a:srgbClr val="5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flip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291840"/>
            <a:ext cx="548640" cy="274320"/>
          </a:xfrm>
          <a:prstGeom prst="roundRect">
            <a:avLst/>
          </a:prstGeom>
          <a:solidFill>
            <a:srgbClr val="44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... 27 states ... 81 states ... 243 states ... EXPLOSION!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303520" cy="1280160"/>
          </a:xfrm>
          <a:prstGeom prst="roundRect">
            <a:avLst/>
          </a:prstGeom>
          <a:solidFill>
            <a:srgbClr val="3A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BBBB"/>
                </a:solidFill>
                <a:latin typeface="Calibri"/>
              </a:defRPr>
            </a:pPr>
            <a:r>
              <a:t>Remembers EVERY path ever tried (visited set).</a:t>
            </a:r>
            <a:br/>
            <a:r>
              <a:t>Explores ALL promising branches.</a:t>
            </a:r>
            <a:br/>
            <a:r>
              <a:t>At depth 8: up to k⁸ states to track.</a:t>
            </a:r>
            <a:br/>
            <a:br/>
            <a:r>
              <a:t>Like searching every hallway in a huge</a:t>
            </a:r>
            <a:br/>
            <a:r>
              <a:t>building and remembering all of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Beam Search: Keep Only the Best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03120"/>
            <a:ext cx="1463040" cy="3657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0" y="274320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↓ re-score, keep best 6, discard rest 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55680" y="3474720"/>
            <a:ext cx="82296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try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↓ re-score, keep best 6, discard rest 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206240"/>
            <a:ext cx="5486400" cy="128016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BFFBB"/>
                </a:solidFill>
                <a:latin typeface="Calibri"/>
              </a:defRPr>
            </a:pPr>
            <a:r>
              <a:t>At EVERY step: evaluate, prune, keep top 6.</a:t>
            </a:r>
            <a:br/>
            <a:r>
              <a:t>Memory never grows beyond 6 states.</a:t>
            </a:r>
            <a:br/>
            <a:r>
              <a:t>Each iteration takes the same time.</a:t>
            </a:r>
            <a:br/>
            <a:br/>
            <a:r>
              <a:t>Like walking with 6 scouts — each explores</a:t>
            </a:r>
            <a:br/>
            <a:r>
              <a:t>one direction, you keep the 6 most promising.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669280"/>
            <a:ext cx="5029200" cy="82296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A* with 8 errors:</a:t>
            </a:r>
            <a:br/>
            <a:r>
              <a:t>Memory explodes, runtime unbounded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669280"/>
            <a:ext cx="5029200" cy="8229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Beam with 8 errors:</a:t>
            </a:r>
            <a:br/>
            <a:r>
              <a:t>6 states in memory, 40 iterations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Exploiting Asymmetric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CF0F1"/>
                </a:solidFill>
                <a:latin typeface="Calibri"/>
              </a:defRPr>
            </a:pPr>
            <a:r>
              <a:t>DNA origami readout errors are NOT random — they are heavily biased toward 1→0 (false negatives).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Physical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1828800"/>
          </a:xfrm>
          <a:prstGeom prst="roundRect">
            <a:avLst/>
          </a:prstGeom>
          <a:solidFill>
            <a:srgbClr val="3A2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DDAA"/>
                </a:solidFill>
                <a:latin typeface="Calibri"/>
              </a:defRPr>
            </a:pPr>
            <a:r>
              <a:t>In DNA origami:</a:t>
            </a:r>
            <a:br/>
            <a:r>
              <a:t>  1 = staple strand present (detected)</a:t>
            </a:r>
            <a:br/>
            <a:r>
              <a:t>  0 = staple strand absent (not detected)</a:t>
            </a:r>
            <a:br/>
            <a:br/>
            <a:r>
              <a:t>Missing a present staple (1→0) is EASY:</a:t>
            </a:r>
            <a:br/>
            <a:r>
              <a:t>  strand fell off, imaging missed it, etc.</a:t>
            </a:r>
            <a:br/>
            <a:br/>
            <a:r>
              <a:t>Detecting a phantom staple (0→1) is RARE:</a:t>
            </a:r>
            <a:br/>
            <a:r>
              <a:t>  requires contamination or imaging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How the Decoder Exploits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182880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FFCC"/>
                </a:solidFill>
                <a:latin typeface="Calibri"/>
              </a:defRPr>
            </a:pPr>
            <a:r>
              <a:t>When a syndrome says "error near bit X":</a:t>
            </a:r>
            <a:br/>
            <a:br/>
            <a:r>
              <a:t>  If X is currently 0:</a:t>
            </a:r>
            <a:br/>
            <a:r>
              <a:t>    → Very likely it was 1 originally</a:t>
            </a:r>
            <a:br/>
            <a:r>
              <a:t>    → HIGH confidence to flip 0→1</a:t>
            </a:r>
            <a:br/>
            <a:br/>
            <a:r>
              <a:t>  If X is currently 1:</a:t>
            </a:r>
            <a:br/>
            <a:r>
              <a:t>    → Unlikely it needs flipping (0→1 is rare)</a:t>
            </a:r>
            <a:br/>
            <a:r>
              <a:t>    → Only flip if false_positive budget allows</a:t>
            </a:r>
            <a:br/>
            <a:br/>
            <a:r>
              <a:t>This asymmetry REDUCES the search space!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Impact on Search 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3A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BBBB"/>
                </a:solidFill>
                <a:latin typeface="Calibri"/>
              </a:defRPr>
            </a:pPr>
            <a:r>
              <a:t>Symmetric errors (random channel):</a:t>
            </a:r>
            <a:br/>
            <a:r>
              <a:t>Any of 80 bits could be wrong</a:t>
            </a:r>
            <a:br/>
            <a:r>
              <a:t>C(80,3) = 82,160 triple-error combos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846320"/>
            <a:ext cx="5029200" cy="91440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BFFBB"/>
                </a:solidFill>
                <a:latin typeface="Calibri"/>
              </a:defRPr>
            </a:pPr>
            <a:r>
              <a:t>Asymmetric errors (our channel):</a:t>
            </a:r>
            <a:br/>
            <a:r>
              <a:t>Only ~40 bits that are "1" can flip to "0"</a:t>
            </a:r>
            <a:br/>
            <a:r>
              <a:t>C(40,3) = 9,880 combos (88% smaller!)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The false_positive parameter controls how many 1→0 "corrections" are allowed — default: very few.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Why Two Different Strategies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F0F1"/>
                </a:solidFill>
                <a:latin typeface="Calibri"/>
              </a:defRPr>
            </a:pPr>
            <a:r>
              <a:t>The beam-search and legacy decoders see errors from fundamentally different angles.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Tier 1: Syndrome Perspective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2560320"/>
          </a:xfrm>
          <a:prstGeom prst="roundRect">
            <a:avLst/>
          </a:prstGeom>
          <a:solidFill>
            <a:srgbClr val="1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BDDFF"/>
                </a:solidFill>
                <a:latin typeface="Calibri"/>
              </a:defRPr>
            </a:pPr>
            <a:r>
              <a:t>"Which CHECKS are failing?"</a:t>
            </a:r>
            <a:br/>
            <a:br/>
            <a:r>
              <a:t>Builds a graph of all 28 constraint equations.</a:t>
            </a:r>
            <a:br/>
            <a:r>
              <a:t>Finds the variable that VIOLATES the most.</a:t>
            </a:r>
            <a:br/>
            <a:r>
              <a:t>Greedy on syndrome counts.</a:t>
            </a:r>
            <a:br/>
            <a:br/>
            <a:r>
              <a:t>Strength: Systematic, mathematically principled.</a:t>
            </a:r>
            <a:br/>
            <a:r>
              <a:t>Very effective when errors cluster in well-</a:t>
            </a:r>
            <a:br/>
            <a:r>
              <a:t>covered regions of the matrix.</a:t>
            </a:r>
            <a:br/>
            <a:br/>
            <a:r>
              <a:t>Weakness: Can get stuck if errors are in</a:t>
            </a:r>
            <a:br/>
            <a:r>
              <a:t>poorly-covered corners (few checks per bit).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Tier 2: Weight Perspective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2560320"/>
          </a:xfrm>
          <a:prstGeom prst="roundRect">
            <a:avLst/>
          </a:prstGeom>
          <a:solidFill>
            <a:srgbClr val="302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DDBB"/>
                </a:solidFill>
                <a:latin typeface="Calibri"/>
              </a:defRPr>
            </a:pPr>
            <a:r>
              <a:t>"Which POSITIONS look most suspicious?"</a:t>
            </a:r>
            <a:br/>
            <a:br/>
            <a:r>
              <a:t>Scores positions using parity violations +</a:t>
            </a:r>
            <a:br/>
            <a:r>
              <a:t>checksum cross-references + false-positive</a:t>
            </a:r>
            <a:br/>
            <a:r>
              <a:t>budget. Domain-specific heuristic.</a:t>
            </a:r>
            <a:br/>
            <a:br/>
            <a:r>
              <a:t>Strength: Uses checksum bonus scoring that</a:t>
            </a:r>
            <a:br/>
            <a:r>
              <a:t>captures correlations the syndrome alone</a:t>
            </a:r>
            <a:br/>
            <a:r>
              <a:t>does not model. Different search order.</a:t>
            </a:r>
            <a:br/>
            <a:br/>
            <a:r>
              <a:t>Weakness: Weight-based, can miss when</a:t>
            </a:r>
            <a:br/>
            <a:r>
              <a:t>scoring artifacts create false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1371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Together: If the syndrome decoder’s mathematical approach misses a pattern,</a:t>
            </a:r>
            <a:br/>
            <a:r>
              <a:t>the legacy’s domain-specific checksum-aware heuristic may catch it.</a:t>
            </a:r>
            <a:br/>
            <a:br/>
            <a:r>
              <a:t>Like asking both a statistician AND a domain expert — different blind spots,</a:t>
            </a:r>
            <a:br/>
            <a:r>
              <a:t>so the combination covers more ground than either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Walkthrough: Recovering from 3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Step-by-step example of the beam-search decoder correcting 3 false negatives (1→0).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4572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RECEIVE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417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Origami arrives with 3 bits flipped to 0.</a:t>
            </a:r>
            <a:br/>
            <a:r>
              <a:t>Tier 0 strict check: 8 of 24 parity checks fail, 2 of 4 checksums fail.</a:t>
            </a:r>
            <a:br/>
            <a:r>
              <a:t>→ Not clean. Proceed to Tier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011680" cy="4572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SYNDROME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423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Count which variables appear in the 10 failing checks:</a:t>
            </a:r>
            <a:br/>
            <a:r>
              <a:t>  Bit A: appears in 5 failing checks (score=5) ← top suspect</a:t>
            </a:r>
            <a:br/>
            <a:r>
              <a:t>  Bit B: appears in 4 failing checks (score=4)</a:t>
            </a:r>
            <a:br/>
            <a:r>
              <a:t>  Bit C: appears in 3 failing checks (score=3)</a:t>
            </a:r>
            <a:br/>
            <a:r>
              <a:t>  Other bits: 0-2 failing checks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011680" cy="457200"/>
          </a:xfrm>
          <a:prstGeom prst="roundRect">
            <a:avLst/>
          </a:prstGeom>
          <a:solidFill>
            <a:srgbClr val="1A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ITERATION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4290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Beam generates candidates by flipping top-scored bits.</a:t>
            </a:r>
            <a:br/>
            <a:r>
              <a:t>Best candidate: flip Bit A. Now only 5 checks fail (was 10).</a:t>
            </a:r>
            <a:br/>
            <a:r>
              <a:t>Keep top 6 candidates sorted by (failed_checks, flip_count).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2011680" cy="457200"/>
          </a:xfrm>
          <a:prstGeom prst="roundRect">
            <a:avLst/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ITERATION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348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From the best candidates, try flipping more bits.</a:t>
            </a:r>
            <a:br/>
            <a:r>
              <a:t>Best: flip A+B. Now only 2 checks fail.</a:t>
            </a:r>
            <a:br/>
            <a:r>
              <a:t>Second best: flip A+C. Now 3 checks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201168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ITERATION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4406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From flip(A,B), try one more flip.</a:t>
            </a:r>
            <a:br/>
            <a:r>
              <a:t>flip(A,B,C): 0 checks fail!</a:t>
            </a:r>
            <a:br/>
            <a:r>
              <a:t>Run _strict_matrix_ok: ALL 24 parities pass, ALL 4 checksums pass.</a:t>
            </a:r>
            <a:br/>
            <a:r>
              <a:t>✓ ACCEPT. Return corrected matrix.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D6"/>
                </a:solidFill>
                <a:latin typeface="Calibri"/>
              </a:defRPr>
            </a:pPr>
            <a:r>
              <a:t>Total: 3 iterations, ~18 candidate evaluations, 3 flips found. Syndrome scores guided us directly to the answer.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Parity Coverage Determines Correctability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F0F1"/>
                </a:solidFill>
                <a:latin typeface="Calibri"/>
              </a:defRPr>
            </a:pPr>
            <a:r>
              <a:t>Not all bits are equally protected. A bit's correctability depends on how many parity checks cover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Well-Covered Bit (e.g., 5-6 checks)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210312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BFFBB"/>
                </a:solidFill>
                <a:latin typeface="Calibri"/>
              </a:defRPr>
            </a:pPr>
            <a:r>
              <a:t>When this bit flips:</a:t>
            </a:r>
            <a:br/>
            <a:r>
              <a:t>  5-6 parity checks FAIL simultaneously</a:t>
            </a:r>
            <a:br/>
            <a:r>
              <a:t>  Syndrome score = 5-6 (very high)</a:t>
            </a:r>
            <a:br/>
            <a:r>
              <a:t>  Decoder immediately identifies it</a:t>
            </a:r>
            <a:br/>
            <a:br/>
            <a:r>
              <a:t>When paired with another error:</a:t>
            </a:r>
            <a:br/>
            <a:r>
              <a:t>  Still distinguishable — different checks</a:t>
            </a:r>
            <a:br/>
            <a:r>
              <a:t>  fail for each bit</a:t>
            </a:r>
            <a:br/>
            <a:br/>
            <a:r>
              <a:t>Easy to correct even in multi-error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Poorly-Covered Bit (e.g., 1-2 checks)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2103120"/>
          </a:xfrm>
          <a:prstGeom prst="roundRect">
            <a:avLst/>
          </a:prstGeom>
          <a:solidFill>
            <a:srgbClr val="3A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BBBB"/>
                </a:solidFill>
                <a:latin typeface="Calibri"/>
              </a:defRPr>
            </a:pPr>
            <a:r>
              <a:t>When this bit flips:</a:t>
            </a:r>
            <a:br/>
            <a:r>
              <a:t>  Only 1-2 parity checks FAIL</a:t>
            </a:r>
            <a:br/>
            <a:r>
              <a:t>  Syndrome score = 1-2 (low)</a:t>
            </a:r>
            <a:br/>
            <a:r>
              <a:t>  Could be confused with other suspects</a:t>
            </a:r>
            <a:br/>
            <a:br/>
            <a:r>
              <a:t>When paired with another error:</a:t>
            </a:r>
            <a:br/>
            <a:r>
              <a:t>  Syndromes OVERLAP — can't tell which</a:t>
            </a:r>
            <a:br/>
            <a:r>
              <a:t>  bit caused which failure</a:t>
            </a:r>
            <a:br/>
            <a:br/>
            <a:r>
              <a:t>These bits are the "vulnerable" positions.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What the Exhaustive Tests Reveal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5029200" cy="1371600"/>
          </a:xfrm>
          <a:prstGeom prst="roundRect">
            <a:avLst/>
          </a:prstGeom>
          <a:solidFill>
            <a:srgbClr val="302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DDBB"/>
                </a:solidFill>
                <a:latin typeface="Calibri"/>
              </a:defRPr>
            </a:pPr>
            <a:r>
              <a:t>votes.csv ranks bits by how often</a:t>
            </a:r>
            <a:br/>
            <a:r>
              <a:t>they appear in UNCORRECTABLE combos.</a:t>
            </a:r>
            <a:br/>
            <a:br/>
            <a:r>
              <a:t>High vote = this bit is poorly covered</a:t>
            </a:r>
            <a:br/>
            <a:r>
              <a:t>           = structural weakness in the</a:t>
            </a:r>
            <a:br/>
            <a:r>
              <a:t>             parity mapping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029200"/>
            <a:ext cx="5029200" cy="137160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BDDFF"/>
                </a:solidFill>
                <a:latin typeface="Calibri"/>
              </a:defRPr>
            </a:pPr>
            <a:r>
              <a:t>This feeds back into mapping design:</a:t>
            </a:r>
            <a:br/>
            <a:br/>
            <a:r>
              <a:t>  → Can we add more checks to</a:t>
            </a:r>
            <a:br/>
            <a:r>
              <a:t>     vulnerable positions?</a:t>
            </a:r>
            <a:br/>
            <a:r>
              <a:t>  → Trade off data capacity for better</a:t>
            </a:r>
            <a:br/>
            <a:r>
              <a:t>     coverage of weak spots?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Intuition: Why Strict Acceptance is Non-Negotiable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The Worst Outcome is NOT Failure — It's a Wrong Answer You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286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Scenario A:</a:t>
            </a:r>
            <a:br/>
            <a:r>
              <a:t>Decoder FAILS</a:t>
            </a:r>
            <a:br/>
            <a:r>
              <a:t>(returns -1)</a:t>
            </a:r>
            <a:br/>
            <a:br/>
            <a:r>
              <a:t>You know it failed.</a:t>
            </a:r>
            <a:br/>
            <a:r>
              <a:t>You can re-sequence.</a:t>
            </a:r>
            <a:br/>
            <a:r>
              <a:t>You can use redundant</a:t>
            </a:r>
            <a:br/>
            <a:r>
              <a:t>copies.</a:t>
            </a:r>
            <a:br/>
            <a:r>
              <a:t>Data is recoverable.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474720" cy="22860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Scenario B:</a:t>
            </a:r>
            <a:br/>
            <a:r>
              <a:t>Decoder returns</a:t>
            </a:r>
            <a:br/>
            <a:r>
              <a:t>WRONG matrix silently</a:t>
            </a:r>
            <a:br/>
            <a:br/>
            <a:r>
              <a:t>You think it worked.</a:t>
            </a:r>
            <a:br/>
            <a:r>
              <a:t>You store corrupted data.</a:t>
            </a:r>
            <a:br/>
            <a:r>
              <a:t>You skip re-sequencing.</a:t>
            </a:r>
            <a:br/>
            <a:r>
              <a:t>You throw away originals.</a:t>
            </a:r>
            <a:br/>
            <a:r>
              <a:t>DATA IS LOST FOREVER.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474720" cy="22860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Scenario C:</a:t>
            </a:r>
            <a:br/>
            <a:r>
              <a:t>Decoder returns</a:t>
            </a:r>
            <a:br/>
            <a:r>
              <a:t>CORRECT matrix</a:t>
            </a:r>
            <a:br/>
            <a:br/>
            <a:r>
              <a:t>Strict check passed.</a:t>
            </a:r>
            <a:br/>
            <a:r>
              <a:t>All 28 constraints verified.</a:t>
            </a:r>
            <a:br/>
            <a:r>
              <a:t>Mathematical guarantee</a:t>
            </a:r>
            <a:br/>
            <a:r>
              <a:t>of correctness.</a:t>
            </a:r>
            <a:br/>
            <a:r>
              <a:t>Data is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How the Old Decoder Could Hit Scenario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2A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CCCC"/>
                </a:solidFill>
                <a:latin typeface="Calibri"/>
              </a:defRPr>
            </a:pPr>
            <a:r>
              <a:t>The old decoder accepted when weight == 0. But weight is a NORMALIZED HEURISTIC:</a:t>
            </a:r>
            <a:br/>
            <a:br/>
            <a:r>
              <a:t>  weight = sum(violation_counts) / num_correct_parities</a:t>
            </a:r>
            <a:br/>
            <a:br/>
            <a:r>
              <a:t>If many parities pass (large denominator), a few remaining violations get divided away to near-zero.</a:t>
            </a:r>
            <a:br/>
            <a:r>
              <a:t>The decoder sees "weight ≈ 0" and declares success — but 1-2 parity checks are STILL failing.</a:t>
            </a:r>
            <a:br/>
            <a:r>
              <a:t>The matrix looks "almost right" but has corrupted data bits. This is silent data corruption.</a:t>
            </a:r>
            <a:br/>
            <a:br/>
            <a:r>
              <a:t>Strict acceptance eliminates this entirely: it doesn't divide, normalize, or approximate. Every check must 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