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35"/>
  </p:normalViewPr>
  <p:slideViewPr>
    <p:cSldViewPr snapToGrid="0" snapToObjects="1">
      <p:cViewPr varScale="1">
        <p:scale>
          <a:sx n="149" d="100"/>
          <a:sy n="149" d="100"/>
        </p:scale>
        <p:origin x="19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Beam-Search Syndrome 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D6"/>
                </a:solidFill>
                <a:latin typeface="Calibri"/>
              </a:defRPr>
            </a:pPr>
            <a:r>
              <a:t>A New Decoding Algorithm for DNA Origami-based</a:t>
            </a:r>
            <a:br/>
            <a:r>
              <a:t>Nucleic Acid Memory (dNAM)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7F8C8D"/>
                </a:solidFill>
                <a:latin typeface="Calibri"/>
              </a:defRPr>
            </a:pPr>
            <a:r>
              <a:t>Replacing heuristic-based error correction with</a:t>
            </a:r>
            <a:br/>
            <a:r>
              <a:t>a principled, syndrome-driven approach inspired by LDPC decoding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Tanmai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1.   Background: dNAM System &amp; Error Model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2.   8x10 Origami Matrix Layout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3.   The Problem: Why the Old Decoder Falls Short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4.   Key Insight: Parity System as an LDPC Code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5.   Building the Tanner Graph (_build_check_graph)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6.   Algorithm: Beam-Search Syndrome Decoder (_iterative_decode)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7.   Worked Example: Decoding a 3-Error Origami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8.   Why Beam Search Over Pure Greedy?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9.   Three-Tier Hybrid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10.  Strict Acceptance: Eliminating Silent Corruption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11.  Old vs New: Side-by-Side Comparison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12.  Complexity Analysis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13.  Summary &amp;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Background: dNAM System &amp; Error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What is DNA Origami-based Nucleic Acid Memory?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DNA origami = self-assembled nanostructure used as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a 2D surface for storing binary data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Each origami encodes 80 bits in an 8×10 grid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where each position is a binary 0 or 1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Data is written by attaching molecular markers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(staple strands) to specific grid locations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Data is read back via microscopy (e.g., AFM)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which images the marker presence/absence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A binary file is split across many origamis,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each carrying ~29 data bits + error correction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The Physical Error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46320" cy="1371600"/>
          </a:xfrm>
          <a:prstGeom prst="roundRect">
            <a:avLst/>
          </a:prstGeom>
          <a:solidFill>
            <a:srgbClr val="5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False Negatives (1 → 0)  —  DOMINANT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 marker IS present, but the microscope fails to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detect it. The bit reads as 0 instead of 1.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This is the most common error type because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markers can fold under, detach, or be obscured.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200400"/>
            <a:ext cx="4846320" cy="1188720"/>
          </a:xfrm>
          <a:prstGeom prst="roundRect">
            <a:avLst/>
          </a:prstGeom>
          <a:solidFill>
            <a:srgbClr val="3D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False Positives (0 → 1)  —  RARE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No marker present, but noise in imaging causes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 false detection. Much less common because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the absence of a marker is harder to misread.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572000"/>
            <a:ext cx="4846320" cy="9144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Practical Error Rates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Typically 1–8 bit errors per origami (out of 80 bits)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Error rate varies with imaging quality and origami prep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End-to-End Pipeline: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97280" cy="502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Binary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6035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6035040"/>
            <a:ext cx="1097280" cy="50292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encode.py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6035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6035040"/>
            <a:ext cx="1097280" cy="502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Origami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6035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6035040"/>
            <a:ext cx="1463040" cy="50292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Physical Readout</a:t>
            </a:r>
            <a:br/>
            <a:r>
              <a:t>(with errors)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6035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6035040"/>
            <a:ext cx="1097280" cy="50292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decode.py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035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6035040"/>
            <a:ext cx="1097280" cy="502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Recovered 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8×10 DNA Origami Matrix Layout (24-Parity Configuration)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1005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1005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005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005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1005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05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005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005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005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463040"/>
            <a:ext cx="566928" cy="429768"/>
          </a:xfrm>
          <a:prstGeom prst="rect">
            <a:avLst/>
          </a:prstGeom>
          <a:solidFill>
            <a:srgbClr val="F39C12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14630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14630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14630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14630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14630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4630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14630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14630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463040"/>
            <a:ext cx="566928" cy="429768"/>
          </a:xfrm>
          <a:prstGeom prst="rect">
            <a:avLst/>
          </a:prstGeom>
          <a:solidFill>
            <a:srgbClr val="F39C12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ORI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1920240"/>
            <a:ext cx="566928" cy="429768"/>
          </a:xfrm>
          <a:prstGeom prst="rect">
            <a:avLst/>
          </a:prstGeom>
          <a:solidFill>
            <a:srgbClr val="8E44AD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IDX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19202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1920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1920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1920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1920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1920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2040" y="1920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19202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1920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2377440"/>
            <a:ext cx="566928" cy="429768"/>
          </a:xfrm>
          <a:prstGeom prst="rect">
            <a:avLst/>
          </a:prstGeom>
          <a:solidFill>
            <a:srgbClr val="8E44AD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IDX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25880" y="23774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23774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23774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2377440"/>
            <a:ext cx="566928" cy="429768"/>
          </a:xfrm>
          <a:prstGeom prst="rect">
            <a:avLst/>
          </a:prstGeom>
          <a:solidFill>
            <a:srgbClr val="E74C3C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CHK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2377440"/>
            <a:ext cx="566928" cy="429768"/>
          </a:xfrm>
          <a:prstGeom prst="rect">
            <a:avLst/>
          </a:prstGeom>
          <a:solidFill>
            <a:srgbClr val="E74C3C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CHK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23774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23774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23774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23774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2834640"/>
            <a:ext cx="566928" cy="429768"/>
          </a:xfrm>
          <a:prstGeom prst="rect">
            <a:avLst/>
          </a:prstGeom>
          <a:solidFill>
            <a:srgbClr val="8E44AD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IDX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25880" y="28346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20240" y="28346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4600" y="28346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60" y="2834640"/>
            <a:ext cx="566928" cy="429768"/>
          </a:xfrm>
          <a:prstGeom prst="rect">
            <a:avLst/>
          </a:prstGeom>
          <a:solidFill>
            <a:srgbClr val="E74C3C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CHK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03320" y="2834640"/>
            <a:ext cx="566928" cy="429768"/>
          </a:xfrm>
          <a:prstGeom prst="rect">
            <a:avLst/>
          </a:prstGeom>
          <a:solidFill>
            <a:srgbClr val="E74C3C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CHK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28346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92040" y="28346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28346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28346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3291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25880" y="32918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0240" y="3291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14600" y="3291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08960" y="3291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03320" y="3291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80" y="3291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92040" y="3291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0" y="3291840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80760" y="32918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3749039"/>
            <a:ext cx="566928" cy="429768"/>
          </a:xfrm>
          <a:prstGeom prst="rect">
            <a:avLst/>
          </a:prstGeom>
          <a:solidFill>
            <a:srgbClr val="F39C12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ORI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25880" y="3749039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20240" y="3749039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14600" y="3749039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08960" y="3749039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03320" y="3749039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97680" y="3749039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92040" y="3749039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0" y="3749039"/>
            <a:ext cx="566928" cy="429768"/>
          </a:xfrm>
          <a:prstGeom prst="rect">
            <a:avLst/>
          </a:prstGeom>
          <a:solidFill>
            <a:srgbClr val="0096D6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80760" y="3749039"/>
            <a:ext cx="566928" cy="429768"/>
          </a:xfrm>
          <a:prstGeom prst="rect">
            <a:avLst/>
          </a:prstGeom>
          <a:solidFill>
            <a:srgbClr val="F39C12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ORI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" y="4206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25880" y="4206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20240" y="4206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14600" y="4206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08960" y="4206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03320" y="4206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97680" y="4206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892040" y="4206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0" y="4206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80760" y="4206240"/>
            <a:ext cx="566928" cy="429768"/>
          </a:xfrm>
          <a:prstGeom prst="rect">
            <a:avLst/>
          </a:prstGeom>
          <a:solidFill>
            <a:srgbClr val="34495E"/>
          </a:solidFill>
          <a:ln w="6350">
            <a:solidFill>
              <a:srgbClr val="55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" y="4800600"/>
            <a:ext cx="5029200" cy="347472"/>
          </a:xfrm>
          <a:prstGeom prst="round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  ~29 bits  (user payload)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31520" y="5184648"/>
            <a:ext cx="5029200" cy="347472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PARITY  24 bits  (XOR check equations)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5568696"/>
            <a:ext cx="5029200" cy="347472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CHECKSUM  4 bits  (quadrant-level XOR)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" y="5952744"/>
            <a:ext cx="5029200" cy="347472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ORIENTATION  4 bits  (fixed [1,1,1,0] at corners)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1520" y="6336792"/>
            <a:ext cx="5029200" cy="347472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INDEX  2–5 bits  (origami sequence number)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How the 80 Bits Are Organized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40880" y="13716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Data Bits (~29):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The actual payload — a fragment of the encoded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binary file. Spread across rows 0, 2–5, 7.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Parity Bits (24):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Each parity bit stores the XOR of ~12 other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positions. If any of those positions flip, the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parity check will fail, revealing the error.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Forms two rings: rows 1 &amp; 6, columns 1 &amp; 8.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Checksum Bits (4):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Quadrant-level XOR checks at positions (3,4),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(3,5), (4,4), (4,5). Each covers ~13 positions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in one quadrant. Provides coarse error detection.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Orientation Bits (4):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Fixed pattern [1,1,1,0] at corners (1,0), (1,9),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(6,0), (6,9). Used to detect physical rotation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or flip of the origami during imaging.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Index Bits (2–5):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Encode the origami's position in the file sequence,</a:t>
            </a:r>
          </a:p>
          <a:p>
            <a:pPr>
              <a:spcAft>
                <a:spcPts val="2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so decoded origamis can be reassembled in 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The Problem: Why the Old Decoder Falls 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How the Previous (Greedy) Decoder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200">
                <a:solidFill>
                  <a:srgbClr val="A0E0A0"/>
                </a:solidFill>
                <a:latin typeface="Courier New"/>
              </a:defRPr>
            </a:pPr>
            <a:r>
              <a:t>1. Receive origami matrix with potential errors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2. Fix physical orientation (try 4 rotations)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3. Compute 'matrix weight' scoring function: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a. Check which of 24 parities fail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b. For each failure, collect covered positions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c. Count how often each position appears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d. Add checksum bonus (+1 or +2) manually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e. Group positions by suspicion weight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f. Filter by threshold (threshold_data, threshold_parity)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4. If weight == 0: ACCEPT the matrix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5. If weight &gt; 0: A*-style priority queue search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a. Try flipping each probable error bit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b. Re-compute weight after each flip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c. If weight == 0: ACCEPT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d. Else: add to queue, try combinations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e. Explore up to maximum_number_of_error flips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6. If nothing works: return FAILURE (-1)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Four Critical 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554480"/>
            <a:ext cx="5029200" cy="1097280"/>
          </a:xfrm>
          <a:prstGeom prst="roundRect">
            <a:avLst/>
          </a:prstGeom>
          <a:solidFill>
            <a:srgbClr val="5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Silent Data Corruption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The old decoder accepts when matrix_weight == 0, but this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does NOT mean all checks pass. The weight is a normalized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aggregate: individual failing checks can cancel out in the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sum. This means the decoder can return WRONG data and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report success — the worst possible failure mode.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834640"/>
            <a:ext cx="5029200" cy="10058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Exponential Search Explosion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For each candidate bit, the decoder tries flipping it, then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tries all remaining candidates. With k candidates and d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errors: O(k^d) combinations. At 6+ errors, this becomes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computationally infeasible.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023360"/>
            <a:ext cx="5029200" cy="1005840"/>
          </a:xfrm>
          <a:prstGeom prst="roundRect">
            <a:avLst/>
          </a:prstGeom>
          <a:solidFill>
            <a:srgbClr val="A93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Hand-Tuned, Fragile Heuristics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Requires manual tuning of threshold_data, threshold_parity,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and false_positive parameters. The checksum bonus logic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(+2 if pos in both sets) is dead code — the sets are disjoint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by construction, so that branch never executes.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5212080"/>
            <a:ext cx="5029200" cy="822960"/>
          </a:xfrm>
          <a:prstGeom prst="round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4. No Recovery from Wrong Early Choices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Greedy picks one "best" bit to flip. If that choice is wrong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(common with clustered errors), the entire subsequent search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tree is poisoned. No mechanism to backtrack effectively.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6217920"/>
            <a:ext cx="9418320" cy="45720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 need: (1) strict verification, (2) scalable search, (3) principled scoring, (4) resilience to wrong choices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Key Insight: Our Parity System IS an LDPC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Connecting dNAM to Coding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Each parity bit defines an equation: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parity(1,1) = XOR of 12 specific positions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If all bits correct: XOR result = 0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If any bit flipped: XOR result = 1 (check fails)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Each checksum bit defines a similar equation: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checksum(3,4) = XOR of 13 positions in top-left quadrant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Together: 24 parity + 4 checksum = 28 XOR equations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over 80 binary variables (the matrix cells).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This is exactly the structure of a Low-Density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Parity-Check (LDPC) code!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In coding theory, this system is represented as a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bipartite Tanner graph, and decoded using iterative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message-passing algorithms.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Our key insight: we can build this Tanner graph from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the existing parity_bit_relation and checksum_bit_relation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mappings, then apply syndrome-based decoding.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What is a Syndrome?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1828800"/>
          </a:xfrm>
          <a:prstGeom prst="roundRect">
            <a:avLst/>
          </a:prstGeom>
          <a:solidFill>
            <a:srgbClr val="1A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Syndrome = the pattern of which checks fail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Given a received matrix, evaluate all 28 checks.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Each check returns PASS (0) or FAIL (1).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The resulting 28-bit vector is the 'syndrome'.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Syndrome = [0,0,1,0,1,0,0,1,0,0,...] (28 bits)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          ↑       ↑          ↑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    checks 3, 5, and 8 are failing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566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Why Syndromes are Powerful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023360"/>
            <a:ext cx="5029200" cy="237744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Property: An erroneous bit causes ALL its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connected checks to fail simultaneously.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Example: If bit (2,4) is flipped and it participates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 checks C1, C5, C12, C17, C25, C27, C28 (degree 7),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then all 7 of those checks will show FAIL.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By counting how many failing checks each variable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appears in, we get a 'suspicion score'.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The erroneous bit will score 7 — much higher than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innocent bits that only appear in 1–2 failures.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This scoring is AUTOMATIC — no thresholds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Building the Tanner Graph: _build_check_graph()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029200" cy="2798064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100">
                <a:solidFill>
                  <a:srgbClr val="A0E0A0"/>
                </a:solidFill>
                <a:latin typeface="Courier New"/>
              </a:defRPr>
            </a:pPr>
            <a:r>
              <a:rPr dirty="0"/>
              <a:t>def _</a:t>
            </a:r>
            <a:r>
              <a:rPr dirty="0" err="1"/>
              <a:t>build_check_graph</a:t>
            </a:r>
            <a:r>
              <a:rPr dirty="0"/>
              <a:t>(self):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check_to_vars</a:t>
            </a:r>
            <a:r>
              <a:rPr dirty="0"/>
              <a:t> = {}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var_to_checks</a:t>
            </a:r>
            <a:r>
              <a:rPr dirty="0"/>
              <a:t> = </a:t>
            </a:r>
            <a:r>
              <a:rPr dirty="0" err="1"/>
              <a:t>defaultdict</a:t>
            </a:r>
            <a:r>
              <a:rPr dirty="0"/>
              <a:t>(list)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endParaRPr dirty="0"/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all_checks</a:t>
            </a:r>
            <a:r>
              <a:rPr dirty="0"/>
              <a:t> = {}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all_checks.update</a:t>
            </a:r>
            <a:r>
              <a:rPr dirty="0"/>
              <a:t>(</a:t>
            </a:r>
            <a:r>
              <a:rPr dirty="0" err="1"/>
              <a:t>self.parity_bit_relation</a:t>
            </a:r>
            <a:r>
              <a:rPr dirty="0"/>
              <a:t>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all_checks.update</a:t>
            </a:r>
            <a:r>
              <a:rPr dirty="0"/>
              <a:t>(</a:t>
            </a:r>
            <a:r>
              <a:rPr dirty="0" err="1"/>
              <a:t>self.checksum_bit_relation</a:t>
            </a:r>
            <a:r>
              <a:rPr dirty="0"/>
              <a:t>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endParaRPr dirty="0"/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rPr dirty="0"/>
              <a:t>    for </a:t>
            </a:r>
            <a:r>
              <a:rPr dirty="0" err="1"/>
              <a:t>check_cell</a:t>
            </a:r>
            <a:r>
              <a:rPr dirty="0"/>
              <a:t>, deps in </a:t>
            </a:r>
            <a:r>
              <a:rPr dirty="0" err="1"/>
              <a:t>all_checks.items</a:t>
            </a:r>
            <a:r>
              <a:rPr dirty="0"/>
              <a:t>():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rPr dirty="0"/>
              <a:t>        </a:t>
            </a:r>
            <a:r>
              <a:rPr dirty="0" err="1"/>
              <a:t>vars_in_check</a:t>
            </a:r>
            <a:r>
              <a:rPr dirty="0"/>
              <a:t> = [</a:t>
            </a:r>
            <a:r>
              <a:rPr dirty="0" err="1"/>
              <a:t>check_cell</a:t>
            </a:r>
            <a:r>
              <a:rPr dirty="0"/>
              <a:t>] + list(deps)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rPr dirty="0"/>
              <a:t>        </a:t>
            </a:r>
            <a:r>
              <a:rPr dirty="0" err="1"/>
              <a:t>check_to_vars</a:t>
            </a:r>
            <a:r>
              <a:rPr dirty="0"/>
              <a:t>[</a:t>
            </a:r>
            <a:r>
              <a:rPr dirty="0" err="1"/>
              <a:t>check_cell</a:t>
            </a:r>
            <a:r>
              <a:rPr dirty="0"/>
              <a:t>] = </a:t>
            </a:r>
            <a:r>
              <a:rPr dirty="0" err="1"/>
              <a:t>vars_in_check</a:t>
            </a:r>
            <a:endParaRPr dirty="0"/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rPr dirty="0"/>
              <a:t>        for v in </a:t>
            </a:r>
            <a:r>
              <a:rPr dirty="0" err="1"/>
              <a:t>vars_in_check</a:t>
            </a:r>
            <a:r>
              <a:rPr dirty="0"/>
              <a:t>: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var_to_checks</a:t>
            </a:r>
            <a:r>
              <a:rPr dirty="0"/>
              <a:t>[v].append(</a:t>
            </a:r>
            <a:r>
              <a:rPr dirty="0" err="1"/>
              <a:t>check_cell</a:t>
            </a:r>
            <a:r>
              <a:rPr dirty="0"/>
              <a:t>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endParaRPr dirty="0"/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rPr dirty="0"/>
              <a:t>    checks = list(</a:t>
            </a:r>
            <a:r>
              <a:rPr dirty="0" err="1"/>
              <a:t>all_checks.keys</a:t>
            </a:r>
            <a:r>
              <a:rPr dirty="0"/>
              <a:t>())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rPr dirty="0"/>
              <a:t>    return checks, </a:t>
            </a:r>
            <a:r>
              <a:rPr dirty="0" err="1"/>
              <a:t>check_to_vars</a:t>
            </a:r>
            <a:r>
              <a:rPr dirty="0"/>
              <a:t>, </a:t>
            </a:r>
            <a:r>
              <a:rPr dirty="0" err="1"/>
              <a:t>var_to_checks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What This Method Produces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029200" cy="1280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checks  (list of 28 positions)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All 28 check node positions: 24 parity bit locations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like (1,1), (1,2), ... plus 4 checksum locations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(3,4), (3,5), (4,4), (4,5). Each position defines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one XOR equation that must equal zero.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926080"/>
            <a:ext cx="5029200" cy="1280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check_to_vars  (dict: check → list of ~13 positions)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For each check, lists every variable position involved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 its XOR equation (including the check bit itself).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Example: check (1,1) → [(1,1), (4,4), (7,4), (0,1),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(4,0), (7,7), (2,7), (5,4), (4,6), (0,6), ...]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389120"/>
            <a:ext cx="5029200" cy="1280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var_to_checks  (dict: variable → list of 1–7 checks)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The REVERSE mapping. For each matrix cell, which checks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involve it. This is the variable's 'degree' in the graph.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Data bits: degree 5–7 (high observability)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Parity/checksum bits: degree 1 (only their own check)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Graph Statistics (24-parity config)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320040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Total check nodes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4297680"/>
            <a:ext cx="164592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F39C12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81728"/>
            <a:ext cx="320040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Total variable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4681728"/>
            <a:ext cx="164592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F39C12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65776"/>
            <a:ext cx="320040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Check degree (vars per check)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5065776"/>
            <a:ext cx="164592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F39C12"/>
                </a:solidFill>
                <a:latin typeface="Calibri"/>
              </a:defRPr>
            </a:pPr>
            <a:r>
              <a:t>13–14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9824"/>
            <a:ext cx="320040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Variable degree (checks per var)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5449824"/>
            <a:ext cx="164592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F39C12"/>
                </a:solidFill>
                <a:latin typeface="Calibri"/>
              </a:defRPr>
            </a:pPr>
            <a:r>
              <a:t>1–7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833872"/>
            <a:ext cx="320040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Graph density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5833872"/>
            <a:ext cx="1645920" cy="347472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F39C12"/>
                </a:solidFill>
                <a:latin typeface="Calibri"/>
              </a:defRPr>
            </a:pPr>
            <a:r>
              <a:t>~5% (sparse = LDPC)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6217920"/>
            <a:ext cx="9418320" cy="457200"/>
          </a:xfrm>
          <a:prstGeom prst="roundRect">
            <a:avLst/>
          </a:prstGeom>
          <a:solidFill>
            <a:srgbClr val="008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This graph is built ONCE per decode call and reused across all iterations — it encodes the structural backbone of the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Algorithm: _iterative_decode() Step by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560320" cy="4114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1: Build Check Graph</a:t>
            </a:r>
          </a:p>
        </p:txBody>
      </p:sp>
      <p:sp>
        <p:nvSpPr>
          <p:cNvPr id="4" name="Down Arrow 3"/>
          <p:cNvSpPr/>
          <p:nvPr/>
        </p:nvSpPr>
        <p:spPr>
          <a:xfrm>
            <a:off x="1828800" y="1463040"/>
            <a:ext cx="274320" cy="228600"/>
          </a:xfrm>
          <a:prstGeom prst="downArrow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560320" cy="4114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2: Initialize Beam</a:t>
            </a:r>
          </a:p>
        </p:txBody>
      </p:sp>
      <p:sp>
        <p:nvSpPr>
          <p:cNvPr id="6" name="Down Arrow 5"/>
          <p:cNvSpPr/>
          <p:nvPr/>
        </p:nvSpPr>
        <p:spPr>
          <a:xfrm>
            <a:off x="1828800" y="2423160"/>
            <a:ext cx="274320" cy="228600"/>
          </a:xfrm>
          <a:prstGeom prst="downArrow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560320" cy="4114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3: Check if Solved</a:t>
            </a:r>
          </a:p>
        </p:txBody>
      </p:sp>
      <p:sp>
        <p:nvSpPr>
          <p:cNvPr id="8" name="Down Arrow 7"/>
          <p:cNvSpPr/>
          <p:nvPr/>
        </p:nvSpPr>
        <p:spPr>
          <a:xfrm>
            <a:off x="1828800" y="3383280"/>
            <a:ext cx="274320" cy="228600"/>
          </a:xfrm>
          <a:prstGeom prst="downArrow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2560320" cy="41148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4: Compute Syndrome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828800" y="4343400"/>
            <a:ext cx="274320" cy="228600"/>
          </a:xfrm>
          <a:prstGeom prst="downArrow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2560320" cy="41148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5: Score Variables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828800" y="5303520"/>
            <a:ext cx="274320" cy="228600"/>
          </a:xfrm>
          <a:prstGeom prst="downArrow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5806440"/>
            <a:ext cx="2560320" cy="41148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STEP 6: Expand &amp; Prune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1005840"/>
            <a:ext cx="4572000" cy="8686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Construct bipartite graph from parity_bit_relation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and checksum_bit_relation. Returns checks,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check_to_vars, var_to_checks.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965960"/>
            <a:ext cx="4572000" cy="8686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beam = [(deep_copy(matrix), [])]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Start with one candidate: the original received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matrix, with an empty list of applied flips.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2926080"/>
            <a:ext cx="4572000" cy="8686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_strict_matrix_ok(mat): try all 4 orientations,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verify ALL 24 parities + 4 checksums pass.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If yes → return (corrected_matrix, flip_list).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886200"/>
            <a:ext cx="4572000" cy="8686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Find all checks where XOR ≠ 0.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These 'failed checks' form the syndrome —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the decoder's signal about where errors 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846320"/>
            <a:ext cx="4572000" cy="8686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For each failed check, +1 to all its variables.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scores = Counter(). No thresholds, no bonuses.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High score = involved in many failing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5806440"/>
            <a:ext cx="4572000" cy="8686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Try flipping top beam_width×2 (24) scored vars.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Re-evaluate: count failed checks for each child.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Keep best beam_width (12) by (failures, flips).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005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Key Properties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1417320"/>
            <a:ext cx="2926080" cy="36576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Built once, O(28×13)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377440"/>
            <a:ext cx="2926080" cy="36576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 candidate initially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3337560"/>
            <a:ext cx="2926080" cy="36576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Strict = no false accepts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4297680"/>
            <a:ext cx="2926080" cy="36576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28 XOR evaluations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5257800"/>
            <a:ext cx="2926080" cy="36576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Automatic, threshold-free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6217920"/>
            <a:ext cx="2926080" cy="36576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 survive each round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6217920"/>
            <a:ext cx="9418320" cy="45720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Loop: Steps 3–6 repeat up to max_iters (40) times. If no candidate is solved and no more children: return -1 (failure).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Worked Example: Decoding a 3-Error Origami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Calibri"/>
              </a:defRPr>
            </a:pPr>
            <a:r>
              <a:t>Suppose errors at positions (0,1), (2,4), and (7,7)  —  all are 1→0 false negatives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24688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ITERATION 1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Syndrome: 15 of 28 checks fail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(errors in high-degree positions cause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many simultaneous failures)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Scoring: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 (2,4) → score 7  (degree 7, in most failures)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 (0,1) → score 6  (degree 6)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 (7,7) → score 6  (degree 6)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 (5,4) → score 4  (innocent, but near errors)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 ... (other lower scores)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297680" y="2286000"/>
            <a:ext cx="411480" cy="320040"/>
          </a:xfrm>
          <a:prstGeom prst="rightArrow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46320" y="1280160"/>
            <a:ext cx="3200400" cy="24688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EXPAND: Try top 24 flips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Generate 24 children, each with 1 flip: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Child A: flip (2,4) → 9 checks still fail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Child B: flip (0,1) → 10 checks still fail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Child C: flip (7,7) → 10 checks still fail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Child D: flip (5,4) → 16 checks fail (worse!)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...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PRUNE: Keep best 12 by # failures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Child A (9 fails) ranked #1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Children B,C ranked #2–3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138160" y="2286000"/>
            <a:ext cx="411480" cy="320040"/>
          </a:xfrm>
          <a:prstGeom prst="rightArrow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0" y="1280160"/>
            <a:ext cx="3017520" cy="246888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BEAM AFTER ITER 1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 candidates, each with 1 flip.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Best: flip (2,4), 9 checks fail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Note: the correct first flip IS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ranked #1 because (2,4) has the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highest degree (7) and causes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the strongest syndrome signal.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But even if it wasn't #1, the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beam preserves alternatives!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566160" cy="21488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ITERATION 2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Best candidate: (2,4) already fixed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Remaining syndrome: 9 checks fail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New scoring (after fixing (2,4)):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(0,1) → score 6  (now top-ranked)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(7,7) → score 5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Expand: try flipping (0,1) etc.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Best child: flip (2,4)+(0,1) → 4 fails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97680" y="4754880"/>
            <a:ext cx="411480" cy="320040"/>
          </a:xfrm>
          <a:prstGeom prst="rightArrow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46320" y="3931919"/>
            <a:ext cx="3429000" cy="2246689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ITERATION 3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Best: flipped (2,4) + (0,1)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Remaining: 4 checks fail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Scoring: (7,7) → score 4 (top!)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Expand: flip (7,7) as third fix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Best child: 0 checks fail!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_strict_matrix_ok → TRUE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38160" y="4754880"/>
            <a:ext cx="411480" cy="320040"/>
          </a:xfrm>
          <a:prstGeom prst="rightArrow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0" y="3931920"/>
            <a:ext cx="3154680" cy="2246688"/>
          </a:xfrm>
          <a:prstGeom prst="roundRect">
            <a:avLst/>
          </a:prstGeom>
          <a:solidFill>
            <a:srgbClr val="1A5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SUCCESS!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Return: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 matrix = corrected origami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 flips = [(2,4), (0,1), (7,7)]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3 errors corrected in 3 iters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Beam width ensured we never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went down a wrong path.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Total work: ~3 × 24 = 72 trials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(vs. potentially 80^3 = 512K brute force)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Why Beam Search Over Pure Greedy?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Pure Greedy (beam_width = 1): Fragile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3017520"/>
          </a:xfrm>
          <a:prstGeom prst="roundRect">
            <a:avLst/>
          </a:prstGeom>
          <a:solidFill>
            <a:srgbClr val="5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The Problem: One Wrong Step = Game Over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When errors are clustered (e.g., (2,4) and (2,5) both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flipped), their syndromes overlap heavily. An innocent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position like (5,4) might score higher than the true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error because it sits at the intersection of many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failing checks from BOTH errors.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Greedy decoder: flips (5,4) → syndrome WORSENS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(now 3 errors instead of 2) → decoder is stuck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 a worse state with no way to undo the mistake.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This failure mode is especially common at 4+ errors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because syndrome overlap increases with error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Beam Search (beam_width = 12): Resilient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301752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The Solution: Keep Multiple Hypotheses Alive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Same scenario: (5,4) scores highest, (2,4) scores #2.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Beam search: tries BOTH flips (and 22 more).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Candidate A: flip (5,4) → 17 fails (worse)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Candidate B: flip (2,4) → 9 fails (better!)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Candidate C: flip (0,1) → 10 fails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...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After pruning: Candidate B is ranked #1!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The wrong choice (A) drops to the bottom or is pruned.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The correct path survives and will converge.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Key: the 2× oversampling (try 24, keep 12) gives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Algorithm Parameters and Their Rationale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2926080" cy="384048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Parameter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5303520"/>
            <a:ext cx="1920240" cy="384048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5303520"/>
            <a:ext cx="5760720" cy="384048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Why This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292608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max_flips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5760720"/>
            <a:ext cx="192024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5760720"/>
            <a:ext cx="57607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Beyond 8 errors in 80 bits, the code's redundancy (28 checks) is insufficient to uniquely identify the correction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108192"/>
            <a:ext cx="292608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max_iters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6108192"/>
            <a:ext cx="192024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6108192"/>
            <a:ext cx="57607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Empirically sufficient for beam convergence. Each iter makes progress (fewer failures), so 40 is generous.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455664"/>
            <a:ext cx="292608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beam_width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6455664"/>
            <a:ext cx="192024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6455664"/>
            <a:ext cx="57607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12 parallel hypotheses balance exploration vs memory/speed. Wider beams show diminishing returns.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6803136"/>
            <a:ext cx="292608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Children per candidate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6803136"/>
            <a:ext cx="192024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beam_width×2 = 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6803136"/>
            <a:ext cx="57607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2× oversampling: generate twice what we keep, giving selection pressure to filter bad guesses.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Three-Tier Hybrid Decoder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Calibri"/>
              </a:defRPr>
            </a:pPr>
            <a:r>
              <a:t>The _decode() method orchestrates three tiers, each with strict acceptance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383280" cy="256032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TIER 0: Strict Accept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(Zero-flip verification)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Before trying ANY correction, check if the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received matrix is already correct.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 Fix orientation (try 4 rotations/flips)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2. Verify ALL 24 parity XOR equations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3. Verify ALL 4 checksum XOR equations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If all 28 checks pass: accept immediately.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Cost: O(364) — trivially fast.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When: No errors, or errors that cancel out.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77639" y="237744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31920" y="2834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74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3383280" cy="256032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TIER 1: Beam-Search Syndrome Decoder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(Primary error correction engine)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The NEW algorithm described in this talk.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 Build Tanner graph from parity/checksum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2. Score variables by syndrome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3. Beam search: expand top-scored flips,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prune to best 12 candidates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4. Repeat up to 40 iterations / 8 flips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Handles: 1–8 errors efficiently.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Strength: Principled, no manual tuning.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092440" y="237744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2834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74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371600"/>
            <a:ext cx="3108960" cy="256032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TIER 2: Legacy Greedy Heuristic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(Fallback — different strategy)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The original decoder, kept as fallback.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 Weight-based scoring with thresholds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2. A*-style greedy search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3. Different scoring = may succeed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where beam search failed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Why keep it: different strategy means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different failure modes. If beam search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can't solve it, greedy might find a path</a:t>
            </a:r>
          </a:p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the syndrome scoring missed.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The Orchestration: _decode() method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5486400" cy="201168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100">
                <a:solidFill>
                  <a:srgbClr val="A0E0A0"/>
                </a:solidFill>
                <a:latin typeface="Courier New"/>
              </a:defRPr>
            </a:pPr>
            <a:r>
              <a:t>def _decode(self, matrix, td, tp, max_err, fp):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# Tier 0: strict accept (no correction needed?)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ok, _, oriented = self._strict_matrix_ok(matrix)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if ok: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    return self.return_matrix(oriented, [])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endParaRPr/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# Tier 1: beam-search syndrome decoder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fixed, flips = self._iterative_decode(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    matrix, max_flips=max_err, beam_width=6)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if not isinstance(fixed, int):  # success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    ok, i, ori = self._strict_matrix_ok(fixed)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    if ok: return self.return_matrix(ori, flips)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endParaRPr/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# Tier 2: fallback to legacy greedy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return self._decode_legacy(matrix, td, tp, max_err, fp)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572000"/>
            <a:ext cx="5303520" cy="201168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Why Three Tiers?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Defense in depth. Each tier catches different failure modes: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Tier 0 catches: error-free origamis (saves computation).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Runs in microseconds. ~60-80% of origamis in good data.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Tier 1 catches: 1-8 errors using syndrome-driven search.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Primary workhorse. Principled, scalable, no false accepts.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Tier 2 catches: rare edge cases where syndrome scoring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fails (e.g., errors concentrated on degree-1 parity bits).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Different heuristic = different blind spots.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Strict Acceptance: Eliminating Silent Data Corruption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Calibri"/>
              </a:defRPr>
            </a:pPr>
            <a:r>
              <a:t>The single most important improvement in the new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OLD: Weight-Based Acceptance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303520" cy="137160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200">
                <a:solidFill>
                  <a:srgbClr val="A0E0A0"/>
                </a:solidFill>
                <a:latin typeface="Courier New"/>
              </a:defRPr>
            </a:pPr>
            <a:r>
              <a:t># Old acceptance logic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_, matrix_weight, _ = self._get_matrix_weight(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 matrix, flips, tp, td, fp)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if matrix_weight == 0:</a:t>
            </a:r>
          </a:p>
          <a:p>
            <a:pPr>
              <a:defRPr sz="1200">
                <a:solidFill>
                  <a:srgbClr val="A0E0A0"/>
                </a:solidFill>
                <a:latin typeface="Courier New"/>
              </a:defRPr>
            </a:pPr>
            <a:r>
              <a:t>    return matrix  # ACCEPT -- BUT IS THIS SAFE?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303520" cy="2560320"/>
          </a:xfrm>
          <a:prstGeom prst="roundRect">
            <a:avLst/>
          </a:prstGeom>
          <a:solidFill>
            <a:srgbClr val="5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Why weight == 0 is DANGEROUS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The weight is computed as: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normalized_weight = total_weight / len(passing_parities)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Scenario: 22 of 24 parities pass, 2 fail.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But the 2 failing parities have low individual weight.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After normalization by 22: weight rounds down to 0.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Result: decoder accepts a matrix with 2 failing parity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checks. The data returned to the user is WRONG,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and no error is reported.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This is silent data corruption — the decoder lies.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For a data storage system, this is catastrophic.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NEW: Strict Acceptance (_strict_matrix_ok)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303520" cy="201168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100">
                <a:solidFill>
                  <a:srgbClr val="A0E0A0"/>
                </a:solidFill>
                <a:latin typeface="Courier New"/>
              </a:defRPr>
            </a:pPr>
            <a:r>
              <a:t>def _strict_matrix_ok(self, matrix):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# Step 1: Fix orientation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ori, oriented = self._fix_orientation(matrix)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if ori == -1: return False  # can't orient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endParaRPr/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# Step 2: Check ALL parities (no exceptions)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_, bad_parity = self._find_possible_error_location(oriented)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if bad_parity: return False  # even 1 failure = reject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endParaRPr/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# Step 3: Check ALL checksums (no exceptions)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if not self.check_checksum(oriented): return False</a:t>
            </a:r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endParaRPr/>
          </a:p>
          <a:p>
            <a:pPr>
              <a:defRPr sz="1100">
                <a:solidFill>
                  <a:srgbClr val="A0E0A0"/>
                </a:solidFill>
                <a:latin typeface="Courier New"/>
              </a:defRPr>
            </a:pPr>
            <a:r>
              <a:t>    return True  # ALL 28 checks verified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931920"/>
            <a:ext cx="5303520" cy="201168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Why This is Mathematically Sound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Strict acceptance is a NECESSARY condition, not sufficient: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- 28 independent XOR equations over 80 variables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- Each equation: XOR(all participating vars) must = 0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- ANY single failure → immediate rejection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The probability of a wrong matrix passing all 28 checks: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P(undetected error) ≈ 2^(-28) ≈ 0.000000004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(assuming random error patterns)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This means: if strict acceptance says OK, the matrix is</a:t>
            </a:r>
          </a:p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correct with probability &gt; 99.99999996%.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6126480"/>
            <a:ext cx="10332720" cy="4572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Every accepted origami in the new decoder has been verified against ALL 28 check equations — zero ambiguity, zero silent failures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Calibri"/>
              </a:defRPr>
            </a:pPr>
            <a:r>
              <a:t>Old vs New: Detailed Side-by-Side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286000" cy="45720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Aspect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914400"/>
            <a:ext cx="4389120" cy="45720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Old (Greedy Heuristic)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914400"/>
            <a:ext cx="4389120" cy="45720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New (Beam-Search Syndrome)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286000" cy="7772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Acceptance</a:t>
            </a:r>
          </a:p>
          <a:p>
            <a:pPr algn="ctr">
              <a:defRPr sz="1100" b="0">
                <a:solidFill>
                  <a:srgbClr val="F39C12"/>
                </a:solidFill>
                <a:latin typeface="Calibri"/>
              </a:defRPr>
            </a:pPr>
            <a:r>
              <a:t>Criterion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508760"/>
            <a:ext cx="4389120" cy="777240"/>
          </a:xfrm>
          <a:prstGeom prst="roundRect">
            <a:avLst/>
          </a:prstGeom>
          <a:solidFill>
            <a:srgbClr val="5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matrix_weight == 0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(normalized aggregate; individual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failures can be masked)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508760"/>
            <a:ext cx="4389120" cy="77724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All 28 XOR checks pass individually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(strict: even 1 failure = reject;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P(undetected) &lt; 2^-28)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39"/>
            <a:ext cx="2286000" cy="7772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Search</a:t>
            </a:r>
          </a:p>
          <a:p>
            <a:pPr algn="ctr">
              <a:defRPr sz="1100" b="0">
                <a:solidFill>
                  <a:srgbClr val="F39C12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377439"/>
            <a:ext cx="4389120" cy="777240"/>
          </a:xfrm>
          <a:prstGeom prst="roundRect">
            <a:avLst/>
          </a:prstGeom>
          <a:solidFill>
            <a:srgbClr val="5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A*-style greedy with priority queue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(single best path; exponential backtrack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O(k^d) for d errors, k candidates)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377439"/>
            <a:ext cx="4389120" cy="77724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Beam search with width 12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(12 parallel hypotheses per iteration;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linear expansion O(12 × 24 × iters))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46120"/>
            <a:ext cx="2286000" cy="7772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Error</a:t>
            </a:r>
          </a:p>
          <a:p>
            <a:pPr algn="ctr">
              <a:defRPr sz="1100" b="0">
                <a:solidFill>
                  <a:srgbClr val="F39C12"/>
                </a:solidFill>
                <a:latin typeface="Calibri"/>
              </a:defRPr>
            </a:pPr>
            <a:r>
              <a:t>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246120"/>
            <a:ext cx="4389120" cy="777240"/>
          </a:xfrm>
          <a:prstGeom prst="roundRect">
            <a:avLst/>
          </a:prstGeom>
          <a:solidFill>
            <a:srgbClr val="5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Parity count + manual checksum bonus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(+1 or +2; the +2 branch is dead code).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Requires threshold_data, threshold_parity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246120"/>
            <a:ext cx="4389120" cy="77724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Unified syndrome counting from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Tanner graph. Each failing check votes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+1 for its variables. No thresholds.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2286000" cy="7772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Error</a:t>
            </a:r>
          </a:p>
          <a:p>
            <a:pPr algn="ctr">
              <a:defRPr sz="1100" b="0">
                <a:solidFill>
                  <a:srgbClr val="F39C12"/>
                </a:solidFill>
                <a:latin typeface="Calibri"/>
              </a:defRPr>
            </a:pPr>
            <a:r>
              <a:t>Capacity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114800"/>
            <a:ext cx="4389120" cy="777240"/>
          </a:xfrm>
          <a:prstGeom prst="roundRect">
            <a:avLst/>
          </a:prstGeom>
          <a:solidFill>
            <a:srgbClr val="5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Practical limit: ~5-6 errors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(exponential blowup makes search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infeasible beyond this)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114800"/>
            <a:ext cx="4389120" cy="77724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Handles up to ~8 errors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(beam width bounds computation;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each error adds ~2-3 iterations)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83479"/>
            <a:ext cx="2286000" cy="7772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Tuning</a:t>
            </a:r>
          </a:p>
          <a:p>
            <a:pPr algn="ctr">
              <a:defRPr sz="1100" b="0">
                <a:solidFill>
                  <a:srgbClr val="F39C12"/>
                </a:solidFill>
                <a:latin typeface="Calibri"/>
              </a:defRPr>
            </a:pPr>
            <a:r>
              <a:t>Required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4983479"/>
            <a:ext cx="4389120" cy="777240"/>
          </a:xfrm>
          <a:prstGeom prst="roundRect">
            <a:avLst/>
          </a:prstGeom>
          <a:solidFill>
            <a:srgbClr val="5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 parameters: threshold_data,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threshold_parity, false_positive,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max_errors (all must be hand-tuned)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983479"/>
            <a:ext cx="4389120" cy="77724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 structural parameters: max_flips,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beam_width (derived from code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properties, not hand-tuned)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52160"/>
            <a:ext cx="2286000" cy="7772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Failure</a:t>
            </a:r>
          </a:p>
          <a:p>
            <a:pPr algn="ctr">
              <a:defRPr sz="1100" b="0">
                <a:solidFill>
                  <a:srgbClr val="F39C12"/>
                </a:solidFill>
                <a:latin typeface="Calibri"/>
              </a:defRPr>
            </a:pPr>
            <a:r>
              <a:t>Recovery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5852160"/>
            <a:ext cx="4389120" cy="777240"/>
          </a:xfrm>
          <a:prstGeom prst="roundRect">
            <a:avLst/>
          </a:prstGeom>
          <a:solidFill>
            <a:srgbClr val="5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No recovery from wrong early choice.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Once greedy picks wrong bit, entire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search tree is poisoned.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5852160"/>
            <a:ext cx="4389120" cy="77724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Beam preserves 12 alternatives.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Wrong choice drops in ranking;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correct path survives to next iter.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Complexity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Per-Iteration Cost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017520" cy="3657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463040"/>
            <a:ext cx="3017520" cy="3657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Computation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463040"/>
            <a:ext cx="3931920" cy="3657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0175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Build check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920240"/>
            <a:ext cx="30175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28 checks × ~13 vars/check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920240"/>
            <a:ext cx="39319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O(364) — done 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67712"/>
            <a:ext cx="30175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Check if solved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2267712"/>
            <a:ext cx="30175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28 XOR evaluations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267712"/>
            <a:ext cx="39319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O(364) per candidate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15184"/>
            <a:ext cx="30175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Compute syndrome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615184"/>
            <a:ext cx="30175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28 checks evaluated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615184"/>
            <a:ext cx="39319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O(364) per candidate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62656"/>
            <a:ext cx="30175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Score variables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2962656"/>
            <a:ext cx="30175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Sum over failing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2962656"/>
            <a:ext cx="39319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O(|failed| × 13)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10128"/>
            <a:ext cx="30175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Expand beam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3310128"/>
            <a:ext cx="30175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beam_w×2 deep copies + flips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310128"/>
            <a:ext cx="39319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O(24 × 80) copies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30175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Evaluate children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3657600"/>
            <a:ext cx="30175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28 checks per child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657600"/>
            <a:ext cx="39319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O(24 × 364)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005072"/>
            <a:ext cx="30175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Prune (sort)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0" y="4005072"/>
            <a:ext cx="30175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Sort 24 candidates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4005072"/>
            <a:ext cx="3931920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O(24 × log 24)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Overall Complexity Comparison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46320"/>
            <a:ext cx="5303520" cy="1645920"/>
          </a:xfrm>
          <a:prstGeom prst="roundRect">
            <a:avLst/>
          </a:prstGeom>
          <a:solidFill>
            <a:srgbClr val="5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Old Decoder: O(k^d) worst case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Where k = # candidate positions (~20-40),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 = # errors. For 6 errors with 30 candidates: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30^6 = 729,000,000 evaluations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 practice: pruning helps, but fundamental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scaling is exponential in error count.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846320"/>
            <a:ext cx="5303520" cy="1645920"/>
          </a:xfrm>
          <a:prstGeom prst="roundRect">
            <a:avLst/>
          </a:prstGeom>
          <a:solidFill>
            <a:srgbClr val="1A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New Decoder: O(B × 2B × C × I) per origami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B=beam_width (12), C=checks (28×13), I=iters (40).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12 × 24 × 364 × 40 = ~4,200,000 XOR ops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LINEAR in error count (each error adds ~2-3 iters),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bounded by beam width. Practical: ~ms per origami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regardless of error count (up to 8).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Summary &amp; 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743200" cy="41148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 Principled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097280"/>
            <a:ext cx="8046720" cy="12344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The dNAM parity system is structurally equivalent to an LDPC code. By building a Tanner graph from the existing parity and checksum relations, we can apply well-understood syndrome-based decoding techniques instead of ad-hoc heuristics.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2743200" cy="4114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 Beam Search = Resilience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468880"/>
            <a:ext cx="8046720" cy="12344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Maintaining 12 parallel hypotheses per iteration makes the decoder robust to wrong early choices. Unlike greedy search, a single bad flip doesn't doom the entire correction attempt. The 2× oversampling (try 24, keep 12) provides strong selection pressure.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2743200" cy="41148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 Strict Acceptance = Trust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840480"/>
            <a:ext cx="8046720" cy="12344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Every accepted origami is verified against all 28 independent XOR check equations. This eliminates silent data corruption — the most dangerous failure mode of the old decoder. The probability of an undetected error is less than 2^(-28).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2743200" cy="41148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 Three-Tier Architecture =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212080"/>
            <a:ext cx="8046720" cy="12344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Tier 0 (strict accept) handles error-free origamis instantly. Tier 1 (beam-search) handles 1–8 errors with principled syndrome scoring. Tier 2 (legacy greedy) provides a fallback with different failure modes. Together, they maximize recovery across all error scenarios.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6400800"/>
            <a:ext cx="9418320" cy="320040"/>
          </a:xfrm>
          <a:prstGeom prst="roundRect">
            <a:avLst/>
          </a:prstGeom>
          <a:solidFill>
            <a:srgbClr val="008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beam-search syndrome decoder brings coding-theoretic rigor to dNAM error correction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4682</Words>
  <Application>Microsoft Macintosh PowerPoint</Application>
  <PresentationFormat>Widescreen</PresentationFormat>
  <Paragraphs>695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Tanmai Kumar Ghosh</cp:lastModifiedBy>
  <cp:revision>2</cp:revision>
  <dcterms:created xsi:type="dcterms:W3CDTF">2013-01-27T09:14:16Z</dcterms:created>
  <dcterms:modified xsi:type="dcterms:W3CDTF">2026-04-10T08:28:40Z</dcterms:modified>
  <cp:category/>
</cp:coreProperties>
</file>